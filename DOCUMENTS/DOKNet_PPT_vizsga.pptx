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6"/>
  </p:notesMasterIdLst>
  <p:sldIdLst>
    <p:sldId id="256" r:id="rId2"/>
    <p:sldId id="261" r:id="rId3"/>
    <p:sldId id="258" r:id="rId4"/>
    <p:sldId id="264" r:id="rId5"/>
    <p:sldId id="300" r:id="rId6"/>
    <p:sldId id="297" r:id="rId7"/>
    <p:sldId id="298" r:id="rId8"/>
    <p:sldId id="277" r:id="rId9"/>
    <p:sldId id="299" r:id="rId10"/>
    <p:sldId id="259" r:id="rId11"/>
    <p:sldId id="262" r:id="rId12"/>
    <p:sldId id="263" r:id="rId13"/>
    <p:sldId id="266" r:id="rId14"/>
    <p:sldId id="267" r:id="rId1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Epilogue" panose="020B0604020202020204" charset="-18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Nunito Light" pitchFamily="2" charset="-18"/>
      <p:regular r:id="rId29"/>
      <p:italic r:id="rId30"/>
    </p:embeddedFont>
    <p:embeddedFont>
      <p:font typeface="PT Sans" panose="020B0503020203020204" pitchFamily="34" charset="-18"/>
      <p:regular r:id="rId31"/>
      <p:bold r:id="rId32"/>
      <p:italic r:id="rId33"/>
      <p:boldItalic r:id="rId34"/>
    </p:embeddedFont>
    <p:embeddedFont>
      <p:font typeface="Raleway" pitchFamily="2" charset="-18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B1E3F"/>
    <a:srgbClr val="353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5F94D2-475C-4E97-AE6A-90418FDFCD71}">
  <a:tblStyle styleId="{A35F94D2-475C-4E97-AE6A-90418FDFCD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C1935D-10A6-4633-900C-5C10F3A0DAB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4007" autoAdjust="0"/>
  </p:normalViewPr>
  <p:slideViewPr>
    <p:cSldViewPr snapToGrid="0">
      <p:cViewPr varScale="1">
        <p:scale>
          <a:sx n="138" d="100"/>
          <a:sy n="138" d="100"/>
        </p:scale>
        <p:origin x="966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presProps" Target="pres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3587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191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3344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2935051597d_0_40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2935051597d_0_405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05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5"/>
          <p:cNvSpPr txBox="1">
            <a:spLocks noGrp="1"/>
          </p:cNvSpPr>
          <p:nvPr>
            <p:ph type="subTitle" idx="1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5"/>
          <p:cNvSpPr txBox="1">
            <a:spLocks noGrp="1"/>
          </p:cNvSpPr>
          <p:nvPr>
            <p:ph type="subTitle" idx="2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subTitle" idx="3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4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avLst/>
              <a:gdLst/>
              <a:ahLst/>
              <a:cxnLst/>
              <a:rect l="l" t="t" r="r" b="b"/>
              <a:pathLst>
                <a:path w="1633727" h="230504" extrusionOk="0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avLst/>
              <a:gdLst/>
              <a:ahLst/>
              <a:cxnLst/>
              <a:rect l="l" t="t" r="r" b="b"/>
              <a:pathLst>
                <a:path w="166485" h="165854" extrusionOk="0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avLst/>
              <a:gdLst/>
              <a:ahLst/>
              <a:cxnLst/>
              <a:rect l="l" t="t" r="r" b="b"/>
              <a:pathLst>
                <a:path w="7620" h="174307" extrusionOk="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rot="532502" flipH="1">
            <a:off x="-514115" y="4385276"/>
            <a:ext cx="1514959" cy="122499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17"/>
          <p:cNvSpPr txBox="1">
            <a:spLocks noGrp="1"/>
          </p:cNvSpPr>
          <p:nvPr>
            <p:ph type="subTitle" idx="1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7"/>
          <p:cNvSpPr txBox="1">
            <a:spLocks noGrp="1"/>
          </p:cNvSpPr>
          <p:nvPr>
            <p:ph type="subTitle" idx="2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3" name="Google Shape;503;p17"/>
          <p:cNvSpPr txBox="1">
            <a:spLocks noGrp="1"/>
          </p:cNvSpPr>
          <p:nvPr>
            <p:ph type="subTitle" idx="3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17"/>
          <p:cNvSpPr txBox="1">
            <a:spLocks noGrp="1"/>
          </p:cNvSpPr>
          <p:nvPr>
            <p:ph type="subTitle" idx="4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7"/>
          <p:cNvSpPr txBox="1">
            <a:spLocks noGrp="1"/>
          </p:cNvSpPr>
          <p:nvPr>
            <p:ph type="subTitle" idx="5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7"/>
          <p:cNvSpPr txBox="1">
            <a:spLocks noGrp="1"/>
          </p:cNvSpPr>
          <p:nvPr>
            <p:ph type="subTitle" idx="6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7"/>
          <p:cNvSpPr txBox="1">
            <a:spLocks noGrp="1"/>
          </p:cNvSpPr>
          <p:nvPr>
            <p:ph type="subTitle" idx="7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8" name="Google Shape;508;p17"/>
          <p:cNvSpPr txBox="1">
            <a:spLocks noGrp="1"/>
          </p:cNvSpPr>
          <p:nvPr>
            <p:ph type="subTitle" idx="8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9" name="Google Shape;509;p17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0" name="Google Shape;510;p17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8"/>
          <p:cNvSpPr txBox="1">
            <a:spLocks noGrp="1"/>
          </p:cNvSpPr>
          <p:nvPr>
            <p:ph type="subTitle" idx="1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8"/>
          <p:cNvSpPr txBox="1">
            <a:spLocks noGrp="1"/>
          </p:cNvSpPr>
          <p:nvPr>
            <p:ph type="subTitle" idx="2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8"/>
          <p:cNvSpPr txBox="1">
            <a:spLocks noGrp="1"/>
          </p:cNvSpPr>
          <p:nvPr>
            <p:ph type="subTitle" idx="3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18"/>
          <p:cNvSpPr txBox="1">
            <a:spLocks noGrp="1"/>
          </p:cNvSpPr>
          <p:nvPr>
            <p:ph type="subTitle" idx="4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8"/>
          <p:cNvSpPr txBox="1">
            <a:spLocks noGrp="1"/>
          </p:cNvSpPr>
          <p:nvPr>
            <p:ph type="subTitle" idx="5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18"/>
          <p:cNvSpPr txBox="1">
            <a:spLocks noGrp="1"/>
          </p:cNvSpPr>
          <p:nvPr>
            <p:ph type="subTitle" idx="6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8"/>
          <p:cNvSpPr txBox="1">
            <a:spLocks noGrp="1"/>
          </p:cNvSpPr>
          <p:nvPr>
            <p:ph type="subTitle" idx="7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5" name="Google Shape;545;p18"/>
          <p:cNvSpPr txBox="1">
            <a:spLocks noGrp="1"/>
          </p:cNvSpPr>
          <p:nvPr>
            <p:ph type="subTitle" idx="8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6" name="Google Shape;546;p18"/>
          <p:cNvSpPr txBox="1">
            <a:spLocks noGrp="1"/>
          </p:cNvSpPr>
          <p:nvPr>
            <p:ph type="subTitle" idx="9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7" name="Google Shape;547;p18"/>
          <p:cNvSpPr txBox="1">
            <a:spLocks noGrp="1"/>
          </p:cNvSpPr>
          <p:nvPr>
            <p:ph type="subTitle" idx="13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8" name="Google Shape;548;p18"/>
          <p:cNvSpPr txBox="1">
            <a:spLocks noGrp="1"/>
          </p:cNvSpPr>
          <p:nvPr>
            <p:ph type="subTitle" idx="14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9" name="Google Shape;549;p18"/>
          <p:cNvSpPr txBox="1">
            <a:spLocks noGrp="1"/>
          </p:cNvSpPr>
          <p:nvPr>
            <p:ph type="subTitle" idx="15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50" name="Google Shape;550;p18"/>
          <p:cNvSpPr/>
          <p:nvPr/>
        </p:nvSpPr>
        <p:spPr>
          <a:xfrm rot="-3263452" flipH="1">
            <a:off x="7372110" y="40383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1" name="Google Shape;551;p18"/>
          <p:cNvSpPr/>
          <p:nvPr/>
        </p:nvSpPr>
        <p:spPr>
          <a:xfrm rot="531647" flipH="1">
            <a:off x="-1621232" y="4095570"/>
            <a:ext cx="2581069" cy="208704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2" name="Google Shape;552;p18"/>
          <p:cNvSpPr/>
          <p:nvPr/>
        </p:nvSpPr>
        <p:spPr>
          <a:xfrm rot="460658" flipH="1">
            <a:off x="7344116" y="-1448948"/>
            <a:ext cx="3053845" cy="246933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9" r:id="rId17"/>
    <p:sldLayoutId id="214748367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5323766" y="428883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3225" y="1620301"/>
            <a:ext cx="4112100" cy="124983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7200" dirty="0"/>
              <a:t>DÖKNet</a:t>
            </a:r>
            <a:endParaRPr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200149" y="2713532"/>
            <a:ext cx="2467781" cy="17739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u="sng" dirty="0"/>
              <a:t>Készítette: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Tóth Dominik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Krajnyák Máté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Kévés Bálint</a:t>
            </a:r>
            <a:endParaRPr lang="hu-HU" sz="1800"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84" name="Google Shape;756;p28">
            <a:extLst>
              <a:ext uri="{FF2B5EF4-FFF2-40B4-BE49-F238E27FC236}">
                <a16:creationId xmlns:a16="http://schemas.microsoft.com/office/drawing/2014/main" id="{6D268BF5-6DDC-4E1E-9586-3C6F6C554995}"/>
              </a:ext>
            </a:extLst>
          </p:cNvPr>
          <p:cNvSpPr txBox="1">
            <a:spLocks/>
          </p:cNvSpPr>
          <p:nvPr/>
        </p:nvSpPr>
        <p:spPr>
          <a:xfrm>
            <a:off x="2657147" y="2713083"/>
            <a:ext cx="2413118" cy="108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 algn="ctr"/>
            <a:r>
              <a:rPr lang="hu-HU" sz="2800" u="sng" dirty="0"/>
              <a:t>Témavezető:</a:t>
            </a:r>
            <a:br>
              <a:rPr lang="hu-HU" sz="2800" dirty="0"/>
            </a:br>
            <a:r>
              <a:rPr lang="hu-HU" sz="2800" dirty="0"/>
              <a:t>Kovács Donát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676FEE0A-91D8-487A-A642-7D5B62A3D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684" y="116152"/>
            <a:ext cx="1339554" cy="1426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718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A DÖKNet célja </a:t>
            </a:r>
            <a:endParaRPr dirty="0"/>
          </a:p>
        </p:txBody>
      </p:sp>
      <p:sp>
        <p:nvSpPr>
          <p:cNvPr id="1104" name="Google Shape;1104;p33"/>
          <p:cNvSpPr txBox="1">
            <a:spLocks noGrp="1"/>
          </p:cNvSpPr>
          <p:nvPr>
            <p:ph type="subTitle" idx="1"/>
          </p:nvPr>
        </p:nvSpPr>
        <p:spPr>
          <a:xfrm>
            <a:off x="584391" y="1471290"/>
            <a:ext cx="8078346" cy="2831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sz="2800" dirty="0"/>
              <a:t>Célunk egy felhasználó barát felület megalkotása volt főként a diákönkormányzati tagok számára illetve az iskola tanulói számára.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Szerettük volna ha a dök tagok könnyebben és átláthatóbb formában tudnák megszervezni az eseményeket.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302507" y="391885"/>
            <a:ext cx="8121493" cy="6258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Használt technológiák</a:t>
            </a:r>
            <a:endParaRPr sz="4000" dirty="0"/>
          </a:p>
        </p:txBody>
      </p:sp>
      <p:sp>
        <p:nvSpPr>
          <p:cNvPr id="950" name="Google Shape;950;p30"/>
          <p:cNvSpPr txBox="1">
            <a:spLocks noGrp="1"/>
          </p:cNvSpPr>
          <p:nvPr>
            <p:ph type="title" idx="2"/>
          </p:nvPr>
        </p:nvSpPr>
        <p:spPr>
          <a:xfrm>
            <a:off x="886900" y="1203373"/>
            <a:ext cx="21244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Backend:</a:t>
            </a:r>
            <a:endParaRPr sz="3200" dirty="0"/>
          </a:p>
        </p:txBody>
      </p:sp>
      <p:sp>
        <p:nvSpPr>
          <p:cNvPr id="951" name="Google Shape;951;p30"/>
          <p:cNvSpPr txBox="1">
            <a:spLocks noGrp="1"/>
          </p:cNvSpPr>
          <p:nvPr>
            <p:ph type="title" idx="3"/>
          </p:nvPr>
        </p:nvSpPr>
        <p:spPr>
          <a:xfrm>
            <a:off x="1100974" y="2890323"/>
            <a:ext cx="2034111" cy="8635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Next.js API route-ok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2" name="Google Shape;952;p30"/>
          <p:cNvSpPr txBox="1">
            <a:spLocks noGrp="1"/>
          </p:cNvSpPr>
          <p:nvPr>
            <p:ph type="title" idx="4"/>
          </p:nvPr>
        </p:nvSpPr>
        <p:spPr>
          <a:xfrm>
            <a:off x="3325279" y="1203373"/>
            <a:ext cx="2305499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Frontend:</a:t>
            </a:r>
            <a:endParaRPr sz="3200" dirty="0"/>
          </a:p>
        </p:txBody>
      </p:sp>
      <p:sp>
        <p:nvSpPr>
          <p:cNvPr id="954" name="Google Shape;954;p30"/>
          <p:cNvSpPr txBox="1">
            <a:spLocks noGrp="1"/>
          </p:cNvSpPr>
          <p:nvPr>
            <p:ph type="title" idx="6"/>
          </p:nvPr>
        </p:nvSpPr>
        <p:spPr>
          <a:xfrm>
            <a:off x="5737525" y="1203373"/>
            <a:ext cx="236832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3200" dirty="0"/>
              <a:t>Adatbázis:</a:t>
            </a:r>
            <a:endParaRPr sz="3200" dirty="0"/>
          </a:p>
        </p:txBody>
      </p:sp>
      <p:sp>
        <p:nvSpPr>
          <p:cNvPr id="956" name="Google Shape;956;p30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solidFill>
                  <a:srgbClr val="3536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Node.js</a:t>
            </a:r>
            <a:endParaRPr sz="2800" b="0" dirty="0">
              <a:solidFill>
                <a:srgbClr val="35363B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7" name="Google Shape;957;p30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977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Next.js (React)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58" name="Google Shape;958;p30"/>
          <p:cNvSpPr txBox="1">
            <a:spLocks noGrp="1"/>
          </p:cNvSpPr>
          <p:nvPr>
            <p:ph type="subTitle" idx="9"/>
          </p:nvPr>
        </p:nvSpPr>
        <p:spPr>
          <a:xfrm>
            <a:off x="5737524" y="1912475"/>
            <a:ext cx="3014589" cy="977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MariaDB</a:t>
            </a:r>
          </a:p>
          <a:p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(phpMyAdmin)</a:t>
            </a:r>
          </a:p>
        </p:txBody>
      </p:sp>
      <p:sp>
        <p:nvSpPr>
          <p:cNvPr id="960" name="Google Shape;960;p30"/>
          <p:cNvSpPr txBox="1">
            <a:spLocks noGrp="1"/>
          </p:cNvSpPr>
          <p:nvPr>
            <p:ph type="subTitle" idx="14"/>
          </p:nvPr>
        </p:nvSpPr>
        <p:spPr>
          <a:xfrm>
            <a:off x="3406475" y="2896078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TypeScript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Google Shape;960;p30">
            <a:extLst>
              <a:ext uri="{FF2B5EF4-FFF2-40B4-BE49-F238E27FC236}">
                <a16:creationId xmlns:a16="http://schemas.microsoft.com/office/drawing/2014/main" id="{81850C4F-8BBD-4F85-95F0-23668FE88C41}"/>
              </a:ext>
            </a:extLst>
          </p:cNvPr>
          <p:cNvSpPr txBox="1">
            <a:spLocks/>
          </p:cNvSpPr>
          <p:nvPr/>
        </p:nvSpPr>
        <p:spPr>
          <a:xfrm>
            <a:off x="3406475" y="3652733"/>
            <a:ext cx="2305500" cy="7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Főbb funkciók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2"/>
            <a:ext cx="7440503" cy="13227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oldal funkciói a menü sávból érhetőek el. Bizonyos jogosultságú felhasználóknak korlátozott funkciók érhetőek el.</a:t>
            </a:r>
            <a:endParaRPr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7898B81A-1217-424D-B388-F5075B41C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00" y="2684319"/>
            <a:ext cx="8600645" cy="728962"/>
          </a:xfrm>
          <a:prstGeom prst="rect">
            <a:avLst/>
          </a:prstGeom>
        </p:spPr>
      </p:pic>
      <p:sp>
        <p:nvSpPr>
          <p:cNvPr id="31" name="Google Shape;1151;p36">
            <a:extLst>
              <a:ext uri="{FF2B5EF4-FFF2-40B4-BE49-F238E27FC236}">
                <a16:creationId xmlns:a16="http://schemas.microsoft.com/office/drawing/2014/main" id="{0C8C3D76-7F66-4EE4-9C0F-2E4918305FE3}"/>
              </a:ext>
            </a:extLst>
          </p:cNvPr>
          <p:cNvSpPr txBox="1">
            <a:spLocks/>
          </p:cNvSpPr>
          <p:nvPr/>
        </p:nvSpPr>
        <p:spPr>
          <a:xfrm>
            <a:off x="470748" y="3471805"/>
            <a:ext cx="7440503" cy="89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</a:t>
            </a:r>
            <a:r>
              <a:rPr lang="hu-HU" sz="28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admin</a:t>
            </a:r>
            <a:r>
              <a:rPr lang="hu-HU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az egyetlen felhasználói jogosultság amelyik az összes funkcióhoz hozzáfér.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7"/>
          <p:cNvSpPr txBox="1">
            <a:spLocks noGrp="1"/>
          </p:cNvSpPr>
          <p:nvPr>
            <p:ph type="title"/>
          </p:nvPr>
        </p:nvSpPr>
        <p:spPr>
          <a:xfrm>
            <a:off x="311291" y="376836"/>
            <a:ext cx="7704000" cy="615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Naptár</a:t>
            </a:r>
            <a:endParaRPr sz="4000" dirty="0"/>
          </a:p>
        </p:txBody>
      </p:sp>
      <p:sp>
        <p:nvSpPr>
          <p:cNvPr id="1159" name="Google Shape;1159;p37"/>
          <p:cNvSpPr txBox="1">
            <a:spLocks noGrp="1"/>
          </p:cNvSpPr>
          <p:nvPr>
            <p:ph type="subTitle" idx="1"/>
          </p:nvPr>
        </p:nvSpPr>
        <p:spPr>
          <a:xfrm>
            <a:off x="311290" y="1195387"/>
            <a:ext cx="7807473" cy="19149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A naptár lehetőséget biztosít arra hogy a diákönkormányzat fontos dátumokat, eseményeket tudjon felírni egy mindenki által elérhető és megtekinthető helyen.</a:t>
            </a:r>
            <a:endParaRPr sz="28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B230E70E-2BC2-497B-AEAD-36204A66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036" y="2619491"/>
            <a:ext cx="3241964" cy="252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97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Galéria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1"/>
            <a:ext cx="7440503" cy="14353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diákönkormányzat által szervezett eseményekről készült képeket a galéria funkció használatával lehet publikussá tenni.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4DCB2A6-B279-456A-BB9F-11449961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03" y="2513018"/>
            <a:ext cx="4343597" cy="263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4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37"/>
          <p:cNvSpPr txBox="1">
            <a:spLocks noGrp="1"/>
          </p:cNvSpPr>
          <p:nvPr>
            <p:ph type="title"/>
          </p:nvPr>
        </p:nvSpPr>
        <p:spPr>
          <a:xfrm>
            <a:off x="311291" y="376836"/>
            <a:ext cx="7704000" cy="615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Hírszerkesztő</a:t>
            </a:r>
            <a:endParaRPr sz="4000" dirty="0"/>
          </a:p>
        </p:txBody>
      </p:sp>
      <p:sp>
        <p:nvSpPr>
          <p:cNvPr id="1159" name="Google Shape;1159;p37"/>
          <p:cNvSpPr txBox="1">
            <a:spLocks noGrp="1"/>
          </p:cNvSpPr>
          <p:nvPr>
            <p:ph type="subTitle" idx="1"/>
          </p:nvPr>
        </p:nvSpPr>
        <p:spPr>
          <a:xfrm>
            <a:off x="311290" y="1195387"/>
            <a:ext cx="7440327" cy="1457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Ennek segítségével híreket, felhívásokat illetve bejelentéseket lehet készíteni melyek a főoldalon jelennek meg.</a:t>
            </a:r>
            <a:endParaRPr sz="28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2FA73049-1FD5-4821-B397-158404B5E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437" y="2320636"/>
            <a:ext cx="4875563" cy="28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9"/>
          <p:cNvSpPr txBox="1">
            <a:spLocks noGrp="1"/>
          </p:cNvSpPr>
          <p:nvPr>
            <p:ph type="title"/>
          </p:nvPr>
        </p:nvSpPr>
        <p:spPr>
          <a:xfrm>
            <a:off x="303128" y="331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Szavazás</a:t>
            </a:r>
            <a:endParaRPr sz="4000" dirty="0"/>
          </a:p>
        </p:txBody>
      </p:sp>
      <p:sp>
        <p:nvSpPr>
          <p:cNvPr id="1638" name="Google Shape;1638;p49"/>
          <p:cNvSpPr txBox="1"/>
          <p:nvPr/>
        </p:nvSpPr>
        <p:spPr>
          <a:xfrm>
            <a:off x="303128" y="1033044"/>
            <a:ext cx="77040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szavazásokkal a diákönkormányzat eldöntendő kérdéseket tud megválaszolni ezzel is gyorsítva az események lebonyolítását.</a:t>
            </a:r>
            <a:endParaRPr sz="28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7B13CDCE-D4E7-4EB9-8227-BFC8E821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40" y="2851574"/>
            <a:ext cx="5744959" cy="22919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6"/>
          <p:cNvSpPr txBox="1">
            <a:spLocks noGrp="1"/>
          </p:cNvSpPr>
          <p:nvPr>
            <p:ph type="title"/>
          </p:nvPr>
        </p:nvSpPr>
        <p:spPr>
          <a:xfrm>
            <a:off x="339000" y="348925"/>
            <a:ext cx="38520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Chat</a:t>
            </a:r>
            <a:endParaRPr sz="4000" dirty="0"/>
          </a:p>
        </p:txBody>
      </p:sp>
      <p:sp>
        <p:nvSpPr>
          <p:cNvPr id="1151" name="Google Shape;1151;p36"/>
          <p:cNvSpPr txBox="1">
            <a:spLocks noGrp="1"/>
          </p:cNvSpPr>
          <p:nvPr>
            <p:ph type="subTitle" idx="5"/>
          </p:nvPr>
        </p:nvSpPr>
        <p:spPr>
          <a:xfrm>
            <a:off x="339000" y="1136412"/>
            <a:ext cx="7440503" cy="18353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diákönkormányzat tagjainak biztosítunk lehetőséget a beszélgetésre ezzel is a erősítve a közösséget és építse a kapcsolatot a különböző évfolyamok diákjai között.</a:t>
            </a:r>
            <a:endParaRPr sz="2800" b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41170C21-8202-4B2D-A102-0EB20F8FF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126" y="2348910"/>
            <a:ext cx="2583873" cy="279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829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336884" y="333375"/>
            <a:ext cx="2903857" cy="7532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Adatbázis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336883" y="990600"/>
            <a:ext cx="7406941" cy="14382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hu-HU" sz="2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adatbázisunk 11 táblából áll ezek közül a legfontosabb tábla a </a:t>
            </a:r>
            <a:r>
              <a:rPr lang="hu-HU" sz="2800" b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users, </a:t>
            </a:r>
            <a:r>
              <a:rPr lang="hu-HU" sz="2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ami a felhasználók adatait tárolja el.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hu-HU" sz="2800" dirty="0"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1244B3C3-C711-4013-A892-27F96B82E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025" y="2407444"/>
            <a:ext cx="4070975" cy="2736056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02149C3-9928-4818-8264-6D90B97A7B42}"/>
              </a:ext>
            </a:extLst>
          </p:cNvPr>
          <p:cNvSpPr txBox="1"/>
          <p:nvPr/>
        </p:nvSpPr>
        <p:spPr>
          <a:xfrm>
            <a:off x="362389" y="2596920"/>
            <a:ext cx="478111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rgbClr val="35363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táblák többsége az egyes funkciókhoz szükséges adatokat tárolják el.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34"/>
          <p:cNvSpPr txBox="1">
            <a:spLocks noGrp="1"/>
          </p:cNvSpPr>
          <p:nvPr>
            <p:ph type="title"/>
          </p:nvPr>
        </p:nvSpPr>
        <p:spPr>
          <a:xfrm>
            <a:off x="345645" y="351926"/>
            <a:ext cx="1930830" cy="624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Design</a:t>
            </a:r>
            <a:endParaRPr dirty="0"/>
          </a:p>
        </p:txBody>
      </p:sp>
      <p:sp>
        <p:nvSpPr>
          <p:cNvPr id="1113" name="Google Shape;1113;p34"/>
          <p:cNvSpPr txBox="1">
            <a:spLocks noGrp="1"/>
          </p:cNvSpPr>
          <p:nvPr>
            <p:ph type="subTitle" idx="3"/>
          </p:nvPr>
        </p:nvSpPr>
        <p:spPr>
          <a:xfrm>
            <a:off x="345645" y="1134427"/>
            <a:ext cx="7378264" cy="17888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Az oldal színei a </a:t>
            </a:r>
            <a:r>
              <a:rPr lang="hu-HU" sz="2800" b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DÖKNet</a:t>
            </a:r>
            <a:r>
              <a:rPr lang="hu-HU" sz="2800" b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logó leglátványosabb színét vette alapul illetve az egyszerűség elérésének céljából még a sima fehér színt választottuk.</a:t>
            </a:r>
          </a:p>
        </p:txBody>
      </p:sp>
      <p:grpSp>
        <p:nvGrpSpPr>
          <p:cNvPr id="1114" name="Google Shape;1114;p34"/>
          <p:cNvGrpSpPr/>
          <p:nvPr/>
        </p:nvGrpSpPr>
        <p:grpSpPr>
          <a:xfrm>
            <a:off x="7658533" y="701383"/>
            <a:ext cx="1187311" cy="624971"/>
            <a:chOff x="3859815" y="2867310"/>
            <a:chExt cx="1262157" cy="664368"/>
          </a:xfrm>
        </p:grpSpPr>
        <p:sp>
          <p:nvSpPr>
            <p:cNvPr id="1115" name="Google Shape;1115;p34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6" name="Google Shape;1116;p3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7" name="Google Shape;1117;p3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8" name="Google Shape;1118;p3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9" name="Google Shape;1119;p3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0" name="Google Shape;1120;p3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1" name="Google Shape;1121;p3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2" name="Google Shape;1122;p3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3" name="Google Shape;1123;p3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4" name="Google Shape;1124;p3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5" name="Google Shape;1125;p3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6" name="Google Shape;1126;p3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7" name="Google Shape;1127;p3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" name="Google Shape;1930;p53">
            <a:extLst>
              <a:ext uri="{FF2B5EF4-FFF2-40B4-BE49-F238E27FC236}">
                <a16:creationId xmlns:a16="http://schemas.microsoft.com/office/drawing/2014/main" id="{49335472-E559-40B3-9E80-9084064D7973}"/>
              </a:ext>
            </a:extLst>
          </p:cNvPr>
          <p:cNvSpPr/>
          <p:nvPr/>
        </p:nvSpPr>
        <p:spPr>
          <a:xfrm>
            <a:off x="754426" y="2983500"/>
            <a:ext cx="1440000" cy="1440000"/>
          </a:xfrm>
          <a:prstGeom prst="roundRect">
            <a:avLst>
              <a:gd name="adj" fmla="val 16667"/>
            </a:avLst>
          </a:prstGeom>
          <a:solidFill>
            <a:srgbClr val="8B1E3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" name="Google Shape;1933;p53">
            <a:extLst>
              <a:ext uri="{FF2B5EF4-FFF2-40B4-BE49-F238E27FC236}">
                <a16:creationId xmlns:a16="http://schemas.microsoft.com/office/drawing/2014/main" id="{AECE77EF-D8D0-4206-9C53-FD19E6A9DF5C}"/>
              </a:ext>
            </a:extLst>
          </p:cNvPr>
          <p:cNvSpPr txBox="1"/>
          <p:nvPr/>
        </p:nvSpPr>
        <p:spPr>
          <a:xfrm>
            <a:off x="754426" y="3419901"/>
            <a:ext cx="1440000" cy="56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b="0" i="0" u="none" strike="noStrike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#8b1e3f</a:t>
            </a:r>
            <a:endParaRPr sz="10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AD49FAA-D336-49D9-AAA6-158D655E7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7137" y="2923309"/>
            <a:ext cx="160972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Google Shape;1930;p53">
            <a:extLst>
              <a:ext uri="{FF2B5EF4-FFF2-40B4-BE49-F238E27FC236}">
                <a16:creationId xmlns:a16="http://schemas.microsoft.com/office/drawing/2014/main" id="{8D410A8D-454C-409B-A80D-9EF3F75952F3}"/>
              </a:ext>
            </a:extLst>
          </p:cNvPr>
          <p:cNvSpPr/>
          <p:nvPr/>
        </p:nvSpPr>
        <p:spPr>
          <a:xfrm>
            <a:off x="6609734" y="2983500"/>
            <a:ext cx="1440000" cy="144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1933;p53">
            <a:extLst>
              <a:ext uri="{FF2B5EF4-FFF2-40B4-BE49-F238E27FC236}">
                <a16:creationId xmlns:a16="http://schemas.microsoft.com/office/drawing/2014/main" id="{B5D7BEDF-8CA7-4EB5-98EF-CE5A49C5E7A1}"/>
              </a:ext>
            </a:extLst>
          </p:cNvPr>
          <p:cNvSpPr txBox="1"/>
          <p:nvPr/>
        </p:nvSpPr>
        <p:spPr>
          <a:xfrm>
            <a:off x="6609734" y="3419900"/>
            <a:ext cx="1440000" cy="56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#ffffff</a:t>
            </a:r>
            <a:endParaRPr sz="10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4000" dirty="0"/>
              <a:t>Tervezett fejlesztések</a:t>
            </a:r>
            <a:endParaRPr sz="4000" dirty="0"/>
          </a:p>
        </p:txBody>
      </p:sp>
      <p:sp>
        <p:nvSpPr>
          <p:cNvPr id="1137" name="Google Shape;1137;p35"/>
          <p:cNvSpPr txBox="1">
            <a:spLocks noGrp="1"/>
          </p:cNvSpPr>
          <p:nvPr>
            <p:ph type="subTitle" idx="1"/>
          </p:nvPr>
        </p:nvSpPr>
        <p:spPr>
          <a:xfrm>
            <a:off x="719999" y="1079475"/>
            <a:ext cx="5707894" cy="380685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Dokumentumtár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Közösségi szolgálat követő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Értesítéskezelés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QR-kód generátor</a:t>
            </a: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„Digitális Szekrény”</a:t>
            </a:r>
            <a:endParaRPr lang="hu-HU" sz="2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„Öreg Diák Fal”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sz="280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Profil beállítások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/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/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7" name="Google Shape;1177;p38"/>
          <p:cNvSpPr txBox="1">
            <a:spLocks noGrp="1"/>
          </p:cNvSpPr>
          <p:nvPr>
            <p:ph type="subTitle" idx="1"/>
          </p:nvPr>
        </p:nvSpPr>
        <p:spPr>
          <a:xfrm>
            <a:off x="1137689" y="1287568"/>
            <a:ext cx="6456587" cy="35130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2800" dirty="0"/>
              <a:t>A </a:t>
            </a:r>
            <a:r>
              <a:rPr lang="hu-HU" sz="2800" dirty="0" err="1"/>
              <a:t>DÖKNet</a:t>
            </a:r>
            <a:r>
              <a:rPr lang="hu-HU" sz="2800" dirty="0"/>
              <a:t> egy egyszerűségre törekvő felhasználó barát szolgáltatás a diákönkormányzat tagjai számára és az iskola diákjainak. A </a:t>
            </a:r>
            <a:r>
              <a:rPr lang="hu-HU" sz="2800" dirty="0" err="1"/>
              <a:t>wepoldal</a:t>
            </a:r>
            <a:r>
              <a:rPr lang="hu-HU" sz="2800" dirty="0"/>
              <a:t> számos funkciót tartalmaz melyek a rendezvények lebonyolítását egyszerűsíthetik vagy akár gyorsíthatják.</a:t>
            </a:r>
            <a:endParaRPr sz="2800" dirty="0"/>
          </a:p>
        </p:txBody>
      </p:sp>
      <p:sp>
        <p:nvSpPr>
          <p:cNvPr id="1179" name="Google Shape;1179;p38"/>
          <p:cNvSpPr txBox="1">
            <a:spLocks noGrp="1"/>
          </p:cNvSpPr>
          <p:nvPr>
            <p:ph type="title" idx="2"/>
          </p:nvPr>
        </p:nvSpPr>
        <p:spPr>
          <a:xfrm>
            <a:off x="2819627" y="541576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/>
              <a:t>Összegzés</a:t>
            </a:r>
            <a:endParaRPr dirty="0"/>
          </a:p>
        </p:txBody>
      </p:sp>
      <p:sp>
        <p:nvSpPr>
          <p:cNvPr id="1183" name="Google Shape;1183;p38"/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4" name="Google Shape;1184;p38"/>
          <p:cNvGrpSpPr/>
          <p:nvPr/>
        </p:nvGrpSpPr>
        <p:grpSpPr>
          <a:xfrm>
            <a:off x="541705" y="1421418"/>
            <a:ext cx="552408" cy="792759"/>
            <a:chOff x="10519314" y="4728596"/>
            <a:chExt cx="751780" cy="1078731"/>
          </a:xfrm>
        </p:grpSpPr>
        <p:grpSp>
          <p:nvGrpSpPr>
            <p:cNvPr id="1185" name="Google Shape;1185;p3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86" name="Google Shape;1186;p3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87" name="Google Shape;1187;p3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8" name="Google Shape;1188;p3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9" name="Google Shape;1189;p3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0" name="Google Shape;1190;p3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91" name="Google Shape;1191;p3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2" name="Google Shape;1192;p3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3" name="Google Shape;1193;p3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94" name="Google Shape;1194;p3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95" name="Google Shape;1195;p3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96" name="Google Shape;1196;p3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7" name="Google Shape;1197;p3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8" name="Google Shape;1198;p3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99" name="Google Shape;1199;p3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0" name="Google Shape;1200;p3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01" name="Google Shape;1201;p3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202" name="Google Shape;1202;p3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3" name="Google Shape;1203;p3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04" name="Google Shape;1204;p3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205" name="Google Shape;1205;p3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3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07" name="Google Shape;1207;p3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208" name="Google Shape;1208;p3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09" name="Google Shape;1209;p3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10" name="Google Shape;1210;p3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211" name="Google Shape;1211;p3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12" name="Google Shape;1212;p3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213" name="Google Shape;1213;p3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214" name="Google Shape;1214;p3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6" name="Google Shape;1216;p38"/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dirty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/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38"/>
          <p:cNvGrpSpPr/>
          <p:nvPr/>
        </p:nvGrpSpPr>
        <p:grpSpPr>
          <a:xfrm>
            <a:off x="7595314" y="1536380"/>
            <a:ext cx="363177" cy="451073"/>
            <a:chOff x="7385113" y="1535430"/>
            <a:chExt cx="435673" cy="541115"/>
          </a:xfrm>
        </p:grpSpPr>
        <p:sp>
          <p:nvSpPr>
            <p:cNvPr id="1252" name="Google Shape;1252;p38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3" name="Google Shape;1253;p38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254" name="Google Shape;1254;p38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38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8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57" name="Google Shape;1257;p38"/>
          <p:cNvGrpSpPr/>
          <p:nvPr/>
        </p:nvGrpSpPr>
        <p:grpSpPr>
          <a:xfrm>
            <a:off x="7624772" y="1623323"/>
            <a:ext cx="299338" cy="313076"/>
            <a:chOff x="7420451" y="1639728"/>
            <a:chExt cx="359091" cy="375571"/>
          </a:xfrm>
        </p:grpSpPr>
        <p:sp>
          <p:nvSpPr>
            <p:cNvPr id="1258" name="Google Shape;1258;p38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8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0" name="Google Shape;1260;p38"/>
          <p:cNvGrpSpPr/>
          <p:nvPr/>
        </p:nvGrpSpPr>
        <p:grpSpPr>
          <a:xfrm>
            <a:off x="8216550" y="1526835"/>
            <a:ext cx="396068" cy="717683"/>
            <a:chOff x="1945386" y="5582316"/>
            <a:chExt cx="470725" cy="852963"/>
          </a:xfrm>
        </p:grpSpPr>
        <p:grpSp>
          <p:nvGrpSpPr>
            <p:cNvPr id="1261" name="Google Shape;1261;p38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62" name="Google Shape;1262;p38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38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64" name="Google Shape;1264;p38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/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 dirty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/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/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/>
          <p:cNvCxnSpPr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39"/>
          <p:cNvGrpSpPr/>
          <p:nvPr/>
        </p:nvGrpSpPr>
        <p:grpSpPr>
          <a:xfrm>
            <a:off x="254436" y="628824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1489;p48">
            <a:extLst>
              <a:ext uri="{FF2B5EF4-FFF2-40B4-BE49-F238E27FC236}">
                <a16:creationId xmlns:a16="http://schemas.microsoft.com/office/drawing/2014/main" id="{9D47F7DC-6ADF-4938-A833-129C499C3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679085"/>
            <a:ext cx="9144000" cy="20590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sz="6600" dirty="0"/>
              <a:t>Köszönjük a figyelmet</a:t>
            </a:r>
            <a:r>
              <a:rPr lang="en" sz="6600" dirty="0"/>
              <a:t>!</a:t>
            </a:r>
            <a:endParaRPr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319</Words>
  <Application>Microsoft Office PowerPoint</Application>
  <PresentationFormat>Diavetítés a képernyőre (16:9 oldalarány)</PresentationFormat>
  <Paragraphs>51</Paragraphs>
  <Slides>14</Slides>
  <Notes>14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2" baseType="lpstr">
      <vt:lpstr>Epilogue</vt:lpstr>
      <vt:lpstr>PT Sans</vt:lpstr>
      <vt:lpstr>Calibri</vt:lpstr>
      <vt:lpstr>Arial</vt:lpstr>
      <vt:lpstr>Raleway</vt:lpstr>
      <vt:lpstr>Lato</vt:lpstr>
      <vt:lpstr>Nunito Light</vt:lpstr>
      <vt:lpstr>Multimedia Software Pitch Deck by Slidesgo</vt:lpstr>
      <vt:lpstr>DÖKNet</vt:lpstr>
      <vt:lpstr>A DÖKNet célja </vt:lpstr>
      <vt:lpstr>Használt technológiák</vt:lpstr>
      <vt:lpstr>Főbb funkciók</vt:lpstr>
      <vt:lpstr>Naptár</vt:lpstr>
      <vt:lpstr>Galéria</vt:lpstr>
      <vt:lpstr>Hírszerkesztő</vt:lpstr>
      <vt:lpstr>Szavazás</vt:lpstr>
      <vt:lpstr>Chat</vt:lpstr>
      <vt:lpstr>Adatbázis</vt:lpstr>
      <vt:lpstr>Design</vt:lpstr>
      <vt:lpstr>Tervezett fejlesztések</vt:lpstr>
      <vt:lpstr>Összegzés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Software Pitch Deck</dc:title>
  <dc:creator>Keint</dc:creator>
  <cp:lastModifiedBy>Keint</cp:lastModifiedBy>
  <cp:revision>37</cp:revision>
  <dcterms:modified xsi:type="dcterms:W3CDTF">2026-05-08T12:33:02Z</dcterms:modified>
</cp:coreProperties>
</file>